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PORTFOLIO STRATEGY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Bundling Patents for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Outright Sale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1371600" cy="0"/>
          </a:xfrm>
          <a:prstGeom prst="line">
            <a:avLst/>
          </a:prstGeom>
          <a:noFill/>
          <a:ln w="25400">
            <a:solidFill>
              <a:srgbClr val="D4A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3434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technical-attribute framework for grouping patents into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sellable, buyer-aligned bundles  —  Version 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client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portfolios sell badly because they're packaged badly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19072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as one big lot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057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pay for the average — strong assets are dragged down by weak ones.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90672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one-by-one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429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Slow. Most patents never sell individually and end up abandoned.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462272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89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without a story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48006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coherent technical narrative means no clear buyer; the package looks random.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1600200"/>
            <a:ext cx="4297680" cy="4434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0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2194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Bundling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7772400" y="3520440"/>
            <a:ext cx="640080" cy="0"/>
          </a:xfrm>
          <a:prstGeom prst="line">
            <a:avLst/>
          </a:prstGeom>
          <a:noFill/>
          <a:ln w="25400">
            <a:solidFill>
              <a:srgbClr val="D4A3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370332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each bundle around a coherent technical narrative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specific buyer profile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technical attributes — not valuation guesses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Bundling Framework v3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 —  two stages, one workbook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109728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828800" y="1874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attributes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patent is scored across 42 technical attributes in 9 groups (A–I): tech classification, standards, claims, detectability, family, geography, strategy, quality, market signals.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9496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691640"/>
            <a:ext cx="109728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680960" y="1874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8096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bundling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32004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33 bundle types has a routing rule. Every patent auto-qualifies for one or more bundles. A patent can appear in several — by design.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quality-scored, buyer-mapped bundle structure ready to take to market — with the framework itself configurable per analysis.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Bundling Framework v3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patent scored across 42 attributes in 9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562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8562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Classification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attributes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stack, subsystem, use-case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874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8562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66360" y="18562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 &amp; Ecosystem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attributes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potential, standard, interface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8562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06840" y="18562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 &amp; Scope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8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attributes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breadth, design-around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564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25880" y="34564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Detectability &amp; Enforcement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3767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attributes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teardown, product reads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2918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4747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4564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166360" y="34564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&amp; Lifecycle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66360" y="3767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attributes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size, term, continuation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32918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21040" y="34747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4564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006840" y="34564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06840" y="3767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attributes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2104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Jurisdictions, trilateral coverage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8920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0566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325880" y="50566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&amp; Thematic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325880" y="5367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attributes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Convergence, generation, cross-industry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97680" y="48920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480560" y="5074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50566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166360" y="50566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&amp; Vulnerability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166360" y="5367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attributes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8056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strength, prior-art, EoU, title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138160" y="48920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321040" y="5074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21040" y="50566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9006840" y="50566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/ Buyer Signals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006840" y="5367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attributes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32104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Product-map, maturity, adjacent reads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H and I (added in v2) capture quality, vulnerability, and buyer-facing signals — the dimensions that make mixed-quality portfolios actually packageable.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Bundling Framework v3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ROUTING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 bundle types organized in five conceptual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86868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10972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1 –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Technology-Anchored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8745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Domain · SEP · Product Architecture · Stack Layer · Use-Case · Mfg · Materials · Algorithm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51760"/>
            <a:ext cx="10972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9 – 17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Strategic-Property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 · Generational · Claim-Type · Detectability · Geographic · Family · Lifecycle · Cross-Industry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1247120" cy="86868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11880"/>
            <a:ext cx="10972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18 – 21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&amp; Context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37947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Theme · Defensive · Whitespace · Prosecution Status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572000"/>
            <a:ext cx="10972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22 – 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937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Composition Patterns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47548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Anchor-and-Halo · Picket-Fence · Strong-Core + Tail · Continuation-Live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532120"/>
            <a:ext cx="10972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623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26 – 33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5897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/ Litigation / Lifecycle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37760" y="57150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EoU-Backed · Battle-Tested · Clean-Title · High-Citation · Adjacent Re-Read · Salvage · Pre-Expiry · Provenance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Bundling Framework v3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real bundle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72160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372160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2 — SEP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5G Wireless PHY Cluster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35935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≥ 2  AND  mapped to 3GPP 5G NR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46177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Standards-relevant assets every 5G implementer must license or design around. Trilateral coverage, teardown-detectable, active continuations.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1691640"/>
            <a:ext cx="372160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1688" y="1691640"/>
            <a:ext cx="372160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3 — PRODUCT ARCH.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90288" y="24231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 Powertrain Stack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90288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90288" y="35935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span ≥ 3 subsystems of EV propulsion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0288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90288" y="46177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Build-an-EV-powertrain kit: battery chemistry, thermal management, traction inverter. Cross-subsystem coverage for an OEM or Tier-1.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66176" y="1691640"/>
            <a:ext cx="372160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66176" y="1691640"/>
            <a:ext cx="372160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94776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18 — CONVERGENT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94776" y="24231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AI / Vision Stack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94776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94776" y="35935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share G1 convergence tag (Edge AI)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94776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94776" y="46177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Implementation-agnostic methods deployable across smart cameras, robotics, AR/VR. Aligned with active investment narrative.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Bundling Framework v3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MIXED-QUALITY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portfolios contain weak, narrow, and orphan patents — the framework handles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4480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394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ASSETS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Anchor-and-Halo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strong anchors fortified by narrower halo patents that close design-around routes. Buyer gets a fortified zone, not a single exposed asset.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5440680"/>
            <a:ext cx="4846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440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≥ 2  ·  C2 ≥ 1  ·  shared A1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5394960" cy="4480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691640"/>
            <a:ext cx="5394960" cy="457200"/>
          </a:xfrm>
          <a:prstGeom prst="rect">
            <a:avLst/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ASSETS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31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Salvage / Volume Lot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83680" y="3383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volume lot of weak, narrow, or near-expiry patents priced for defensive aggregators or counter-assertion stockpilers. Honest about what it is.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5440680"/>
            <a:ext cx="4846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5440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≤ 1  OR  E4 &lt; 5  OR  H2 ≤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patent finds a home. Strong ones anchor premium bundles; weak ones power volume lots aimed at defensive aggregators.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Bundling Framework v3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SCORECARD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buyer-facing gates that decide whether a bundle is 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841248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93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019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Weakest H1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claim strength in bundle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bundle is only as strong as its weakest patent.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8437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16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Invalidity Exposure 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high prior-art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834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30% triggers a quality-filter pass.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11247120" cy="841248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7581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07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EoU-Ready 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claim-charts ready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749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litigation-ready out of the box.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6725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645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Survived 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that beat a challenge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4663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vetted assets de-risk the buyer.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394960"/>
            <a:ext cx="11247120" cy="841248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5869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5595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Continuation-Optionality 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71600" y="5852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live continuations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5577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can shape future claims to target product.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Bundling Framework v3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STRATEGIES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approaches that sit above the bundle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64008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structure (Premium / Standard / Lot)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691640"/>
            <a:ext cx="91440" cy="64008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17830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Anchor-first bundling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96312"/>
            <a:ext cx="91440" cy="64008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5877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Storyline bundling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496312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496312"/>
            <a:ext cx="91440" cy="64008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25877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Complementary-weakness pairing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00984"/>
            <a:ext cx="91440" cy="64008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924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3924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bundling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3300984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300984"/>
            <a:ext cx="91440" cy="64008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3924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6600" y="33924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Carve-in / carve-out logic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105656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105656"/>
            <a:ext cx="91440" cy="64008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1970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419709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strategy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4105656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105656"/>
            <a:ext cx="91440" cy="64008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1970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86600" y="419709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Buyer-profile conditional bundling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4910328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910328"/>
            <a:ext cx="91440" cy="64008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001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500176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Continuation-optionality overlay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4910328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4910328"/>
            <a:ext cx="91440" cy="64008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5001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86600" y="500176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Provenance-coherent bundling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8521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strategies describe how to compose, position, and price bundles — once routing rules have produced candidate sets.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Bundling Framework v3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3 — WHAT'S NEW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Configurable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analysis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1371600" cy="0"/>
          </a:xfrm>
          <a:prstGeom prst="line">
            <a:avLst/>
          </a:prstGeom>
          <a:noFill/>
          <a:ln w="25400">
            <a:solidFill>
              <a:srgbClr val="D4A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11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bundle, threshold, or quality gate is relevant for every deal.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lets you turn off what doesn't matter — without losing the framework.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6080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toggles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5029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480560" y="6080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thresholds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5029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8229600" y="6080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Quality-gate switches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modes  —  pick a preset, or hand-tune in Edit Mode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394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 —  PRESET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from the dropdown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6 starter presets — or your 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toggles, thresholds, and gates update instantly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Assignment and Scorecard auto-recompute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bundles stay visible with [DISABLED] markers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691640"/>
            <a:ext cx="5394960" cy="45720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83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 —  EDIT MODE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Override anything by hand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0" y="30175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Edit Mode = Yes to enable manual overrides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single threshold or toggle, leave the rest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summary shows what's active across the workbook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overrides back to the Presets sheet as a new named profile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33 bundle rules and scorecard formulas read from one Configuration sheet — the rest of the workbook is fully formula-driven.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Bundling Framework v3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PRESETS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buyer-profile configurations ready out of the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109728" cy="123444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ON (Default)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496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bundle and gate enabled — baseline 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691640"/>
            <a:ext cx="109728" cy="123444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0756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NPE / Counter-Assertion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96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Detectability, EoU, survived, defensive, salvage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109728" cy="123444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4930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Company / FTO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3913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Subsystems, interfaces, claim breadth, continuations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10896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108960"/>
            <a:ext cx="109728" cy="123444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34930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Defensive Aggregator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3913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Volume-driven: salvage, geographic breadth, claim variety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526280"/>
            <a:ext cx="109728" cy="123444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49103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 Licensee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77240" y="5330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SEP, interop, generational, battle-tested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52628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4526280"/>
            <a:ext cx="109728" cy="123444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49103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 Powertrain Sale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537960" y="5330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Subsystems, materials, manufacturing, thermal, generational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empty Custom Preset slots ready to fill with your own configurations. Add more if needed.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Bundling Framework v3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portfolio data to market-ready bundles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Patent Portfolio sheet — one row per asset, 42 attributes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65760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48056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3108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preset matching the buyer profile, or hand-tune in Edit Mode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65760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21040" y="3108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Assignment + Scorecard auto-recompute — examine STRONG flags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365760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297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0080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" y="5577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composition strategies — anchor-first, tiered, storyline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4160520"/>
            <a:ext cx="365760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4297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480560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80560" y="5577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pre-offering checklist — anchors, invalidity, title, narrative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4160520"/>
            <a:ext cx="365760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1040" y="4297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8321040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to market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21040" y="5577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ready with claim charts where applicable; iterate per buyer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Bundling Framework v3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340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D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WE'D GO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the framework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your portfolio.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371600" cy="0"/>
          </a:xfrm>
          <a:prstGeom prst="line">
            <a:avLst/>
          </a:prstGeom>
          <a:noFill/>
          <a:ln w="25400">
            <a:solidFill>
              <a:srgbClr val="D4A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206240"/>
            <a:ext cx="3474720" cy="1828800"/>
          </a:xfrm>
          <a:prstGeom prst="rect">
            <a:avLst/>
          </a:prstGeom>
          <a:solidFill>
            <a:srgbClr val="131A3F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4709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Run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 ~50-patent subset together; calibrate attribute scales to your team's language.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4206240"/>
            <a:ext cx="3474720" cy="1828800"/>
          </a:xfrm>
          <a:prstGeom prst="rect">
            <a:avLst/>
          </a:prstGeom>
          <a:solidFill>
            <a:srgbClr val="131A3F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4709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 Mapping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 top 3 target buyer profiles. Build matching presets — starter or custom.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4206240"/>
            <a:ext cx="3474720" cy="1828800"/>
          </a:xfrm>
          <a:prstGeom prst="rect">
            <a:avLst/>
          </a:prstGeom>
          <a:solidFill>
            <a:srgbClr val="131A3F"/>
          </a:solidFill>
          <a:ln w="12700">
            <a:solidFill>
              <a:srgbClr val="D4A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58200" y="4709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Bundle Drafts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4–6 candidate bundles with full quality scorecards and pre-offering checklists.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Patent Bundling Framework v3</dc:title>
  <dc:subject>PptxGenJS Presentation</dc:subject>
  <dc:creator>Patent Portfolio Strategy</dc:creator>
  <cp:lastModifiedBy>Patent Portfolio Strategy</cp:lastModifiedBy>
  <cp:revision>1</cp:revision>
  <dcterms:created xsi:type="dcterms:W3CDTF">2026-05-13T11:34:42Z</dcterms:created>
  <dcterms:modified xsi:type="dcterms:W3CDTF">2026-05-13T11:34:42Z</dcterms:modified>
</cp:coreProperties>
</file>